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6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5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9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3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6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50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7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1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8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7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759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40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37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45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2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9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123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  <p:sldLayoutId id="214748387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Python Operators and Their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Name: </a:t>
            </a:r>
            <a:r>
              <a:rPr lang="en-IN" dirty="0"/>
              <a:t>Jayesh </a:t>
            </a:r>
            <a:r>
              <a:rPr lang="en-IN" dirty="0" err="1"/>
              <a:t>Bhikan</a:t>
            </a:r>
            <a:r>
              <a:rPr lang="en-IN" dirty="0"/>
              <a:t> Shimpi</a:t>
            </a:r>
            <a:endParaRPr dirty="0"/>
          </a:p>
          <a:p>
            <a:r>
              <a:rPr dirty="0"/>
              <a:t>Course: </a:t>
            </a:r>
            <a:r>
              <a:rPr lang="en-IN" dirty="0"/>
              <a:t>Essentials of Data Science</a:t>
            </a:r>
            <a:endParaRPr dirty="0"/>
          </a:p>
          <a:p>
            <a:r>
              <a:rPr lang="en-IN" dirty="0"/>
              <a:t>Class: CS1</a:t>
            </a:r>
          </a:p>
          <a:p>
            <a:r>
              <a:rPr lang="en-IN" dirty="0"/>
              <a:t>Batch: C13</a:t>
            </a:r>
          </a:p>
          <a:p>
            <a:r>
              <a:rPr lang="en-IN" dirty="0"/>
              <a:t>PRN: 202501040057</a:t>
            </a:r>
          </a:p>
          <a:p>
            <a:endParaRPr dirty="0"/>
          </a:p>
          <a:p>
            <a:endParaRPr dirty="0"/>
          </a:p>
          <a:p>
            <a:pPr marL="0" indent="0">
              <a:buNone/>
            </a:pPr>
            <a:r>
              <a:rPr sz="2000" dirty="0">
                <a:solidFill>
                  <a:srgbClr val="FF0000"/>
                </a:solidFill>
              </a:rPr>
              <a:t>Purpose</a:t>
            </a:r>
            <a:r>
              <a:rPr sz="2000" dirty="0"/>
              <a:t>: Understand how Python operators help in solving programming problems.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Introduction to Python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Python operators are symbols used to perform operations on variables and </a:t>
            </a:r>
            <a:r>
              <a:rPr lang="en-IN" dirty="0"/>
              <a:t>Literals which are also called as operands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a = 10</a:t>
            </a:r>
          </a:p>
          <a:p>
            <a:r>
              <a:rPr dirty="0"/>
              <a:t>b = 5</a:t>
            </a:r>
          </a:p>
          <a:p>
            <a:r>
              <a:rPr dirty="0"/>
              <a:t>print(a + b)</a:t>
            </a:r>
          </a:p>
          <a:p>
            <a:endParaRPr dirty="0"/>
          </a:p>
          <a:p>
            <a:r>
              <a:rPr dirty="0">
                <a:solidFill>
                  <a:srgbClr val="FF0000"/>
                </a:solidFill>
              </a:rPr>
              <a:t>Output</a:t>
            </a:r>
            <a:r>
              <a:rPr dirty="0"/>
              <a:t>: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Python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Arithmetic Operators</a:t>
            </a:r>
          </a:p>
          <a:p>
            <a:r>
              <a:t>2. Comparison Operators</a:t>
            </a:r>
          </a:p>
          <a:p>
            <a:r>
              <a:t>3. Logical Operators</a:t>
            </a:r>
          </a:p>
          <a:p>
            <a:r>
              <a:t>4. Assignment Operators</a:t>
            </a:r>
          </a:p>
          <a:p>
            <a:r>
              <a:t>5. Bitwise Operators</a:t>
            </a:r>
          </a:p>
          <a:p>
            <a:r>
              <a:t>6. Membership Operators</a:t>
            </a:r>
          </a:p>
          <a:p>
            <a:r>
              <a:t>7. Identity Operators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+ Addition</a:t>
            </a:r>
          </a:p>
          <a:p>
            <a:r>
              <a:rPr dirty="0"/>
              <a:t>- Subtraction</a:t>
            </a:r>
          </a:p>
          <a:p>
            <a:r>
              <a:rPr dirty="0"/>
              <a:t>* Multiplication</a:t>
            </a:r>
          </a:p>
          <a:p>
            <a:r>
              <a:rPr dirty="0"/>
              <a:t>/ Division</a:t>
            </a:r>
          </a:p>
          <a:p>
            <a:r>
              <a:rPr dirty="0"/>
              <a:t>% Modulus</a:t>
            </a:r>
          </a:p>
          <a:p>
            <a:r>
              <a:rPr dirty="0"/>
              <a:t>** Exponent</a:t>
            </a:r>
          </a:p>
          <a:p>
            <a:r>
              <a:rPr dirty="0"/>
              <a:t>// Floor Division</a:t>
            </a:r>
          </a:p>
          <a:p>
            <a:endParaRPr dirty="0"/>
          </a:p>
          <a:p>
            <a:r>
              <a:rPr lang="en-IN" dirty="0">
                <a:solidFill>
                  <a:srgbClr val="FF0000"/>
                </a:solidFill>
              </a:rPr>
              <a:t>Real-life </a:t>
            </a:r>
            <a:r>
              <a:rPr dirty="0">
                <a:solidFill>
                  <a:srgbClr val="FF0000"/>
                </a:solidFill>
              </a:rPr>
              <a:t>Application</a:t>
            </a:r>
            <a:r>
              <a:rPr dirty="0"/>
              <a:t>: Used in billing systems, scientific calculations, and data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== Equal to</a:t>
            </a:r>
          </a:p>
          <a:p>
            <a:r>
              <a:rPr dirty="0"/>
              <a:t>!= Not equal to</a:t>
            </a:r>
          </a:p>
          <a:p>
            <a:r>
              <a:rPr dirty="0"/>
              <a:t>&gt; Greater than</a:t>
            </a:r>
          </a:p>
          <a:p>
            <a:r>
              <a:rPr dirty="0"/>
              <a:t>&lt; Less than</a:t>
            </a:r>
          </a:p>
          <a:p>
            <a:r>
              <a:rPr dirty="0"/>
              <a:t>&gt;= Greater or equal</a:t>
            </a:r>
          </a:p>
          <a:p>
            <a:r>
              <a:rPr dirty="0"/>
              <a:t>&lt;= Less or equal</a:t>
            </a:r>
          </a:p>
          <a:p>
            <a:endParaRPr dirty="0"/>
          </a:p>
          <a:p>
            <a:r>
              <a:rPr dirty="0"/>
              <a:t>Used in </a:t>
            </a:r>
            <a:r>
              <a:rPr dirty="0">
                <a:solidFill>
                  <a:srgbClr val="FFFF00"/>
                </a:solidFill>
              </a:rPr>
              <a:t>decision making systems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and – </a:t>
            </a:r>
            <a:r>
              <a:rPr lang="en-IN" dirty="0"/>
              <a:t>Outputs </a:t>
            </a:r>
            <a:r>
              <a:rPr dirty="0"/>
              <a:t>True if both conditions are true</a:t>
            </a:r>
          </a:p>
          <a:p>
            <a:r>
              <a:rPr dirty="0"/>
              <a:t>or – </a:t>
            </a:r>
            <a:r>
              <a:rPr lang="en-IN" dirty="0"/>
              <a:t>Outputs </a:t>
            </a:r>
            <a:r>
              <a:rPr dirty="0"/>
              <a:t>True if at least one condition is true</a:t>
            </a:r>
          </a:p>
          <a:p>
            <a:r>
              <a:rPr dirty="0"/>
              <a:t>not – Reverses the condition</a:t>
            </a:r>
          </a:p>
          <a:p>
            <a:endParaRPr dirty="0"/>
          </a:p>
          <a:p>
            <a:r>
              <a:rPr dirty="0">
                <a:solidFill>
                  <a:srgbClr val="FF0000"/>
                </a:solidFill>
              </a:rPr>
              <a:t>Example</a:t>
            </a:r>
            <a:r>
              <a:rPr dirty="0"/>
              <a:t>: </a:t>
            </a:r>
            <a:r>
              <a:rPr lang="en-IN" dirty="0"/>
              <a:t>Check if a person is eligible to vote </a:t>
            </a:r>
            <a:r>
              <a:rPr lang="en-IN" dirty="0">
                <a:solidFill>
                  <a:srgbClr val="FFFF00"/>
                </a:solidFill>
              </a:rPr>
              <a:t>or </a:t>
            </a:r>
            <a:r>
              <a:rPr lang="en-IN" dirty="0"/>
              <a:t>note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057401"/>
            <a:ext cx="7955280" cy="4206239"/>
          </a:xfrm>
        </p:spPr>
        <p:txBody>
          <a:bodyPr>
            <a:normAutofit/>
          </a:bodyPr>
          <a:lstStyle/>
          <a:p>
            <a:r>
              <a:rPr dirty="0"/>
              <a:t>Design a program that calculates discount based on bill amount.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Operators used</a:t>
            </a:r>
            <a:r>
              <a:rPr lang="en-IN" dirty="0"/>
              <a:t>: Arithmetic </a:t>
            </a:r>
            <a:r>
              <a:rPr lang="en-IN" dirty="0">
                <a:solidFill>
                  <a:srgbClr val="FFFF00"/>
                </a:solidFill>
              </a:rPr>
              <a:t>+</a:t>
            </a:r>
            <a:r>
              <a:rPr lang="en-IN" dirty="0"/>
              <a:t> Comparison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B6143-5CBE-47A2-B1A2-ECB1B3FC0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879" y="2717799"/>
            <a:ext cx="3898239" cy="2607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F54AFE-B5DA-58B2-EB0B-8BE7D5F63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69" y="2717800"/>
            <a:ext cx="2851501" cy="3039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price</a:t>
            </a:r>
            <a:r>
              <a:rPr dirty="0"/>
              <a:t> = float(input('Enter </a:t>
            </a:r>
            <a:r>
              <a:rPr lang="en-IN" dirty="0"/>
              <a:t>the price</a:t>
            </a:r>
            <a:r>
              <a:rPr dirty="0"/>
              <a:t>: '))</a:t>
            </a:r>
          </a:p>
          <a:p>
            <a:r>
              <a:rPr dirty="0"/>
              <a:t>if </a:t>
            </a:r>
            <a:r>
              <a:rPr lang="en-IN" dirty="0"/>
              <a:t>total</a:t>
            </a:r>
            <a:r>
              <a:rPr dirty="0"/>
              <a:t> &gt; 100:</a:t>
            </a:r>
          </a:p>
          <a:p>
            <a:r>
              <a:rPr dirty="0"/>
              <a:t>    discount = bill * 0.10</a:t>
            </a:r>
          </a:p>
          <a:p>
            <a:r>
              <a:rPr dirty="0" err="1"/>
              <a:t>elif</a:t>
            </a:r>
            <a:r>
              <a:t> </a:t>
            </a:r>
            <a:r>
              <a:rPr lang="en-US"/>
              <a:t>price</a:t>
            </a:r>
            <a:r>
              <a:t> </a:t>
            </a:r>
            <a:r>
              <a:rPr dirty="0"/>
              <a:t>&gt; 500:</a:t>
            </a:r>
          </a:p>
          <a:p>
            <a:r>
              <a:rPr dirty="0"/>
              <a:t>    discount = bill * 0.05</a:t>
            </a:r>
          </a:p>
          <a:p>
            <a:r>
              <a:rPr dirty="0"/>
              <a:t>else:</a:t>
            </a:r>
          </a:p>
          <a:p>
            <a:r>
              <a:rPr dirty="0"/>
              <a:t>    </a:t>
            </a:r>
            <a:r>
              <a:rPr lang="en-IN" dirty="0"/>
              <a:t>print(“NO DISCOUNT”)</a:t>
            </a:r>
            <a:endParaRPr dirty="0"/>
          </a:p>
          <a:p>
            <a:r>
              <a:rPr dirty="0"/>
              <a:t>final_</a:t>
            </a:r>
            <a:r>
              <a:rPr lang="en-IN" dirty="0"/>
              <a:t>amount</a:t>
            </a:r>
            <a:r>
              <a:rPr dirty="0"/>
              <a:t> = </a:t>
            </a:r>
            <a:r>
              <a:rPr lang="en-IN" dirty="0"/>
              <a:t>total</a:t>
            </a:r>
            <a:r>
              <a:rPr dirty="0"/>
              <a:t> </a:t>
            </a:r>
            <a:r>
              <a:rPr lang="en-IN" dirty="0"/>
              <a:t>–</a:t>
            </a:r>
            <a:r>
              <a:rPr dirty="0"/>
              <a:t> discount</a:t>
            </a:r>
            <a:r>
              <a:rPr lang="en-IN" dirty="0"/>
              <a:t>_amount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Student Grade System</a:t>
            </a:r>
          </a:p>
          <a:p>
            <a:endParaRPr/>
          </a:p>
          <a:p>
            <a:r>
              <a:t>Marks &gt;= 90 → Grade A</a:t>
            </a:r>
          </a:p>
          <a:p>
            <a:r>
              <a:t>Marks &gt;= 75 → Grade B</a:t>
            </a:r>
          </a:p>
          <a:p>
            <a:r>
              <a:t>Marks &gt;= 50 → Grade C</a:t>
            </a:r>
          </a:p>
          <a:p>
            <a:r>
              <a:t>Otherwise → Fail</a:t>
            </a:r>
          </a:p>
          <a:p>
            <a:endParaRPr/>
          </a:p>
          <a:p>
            <a:r>
              <a:t>Uses comparison and logical operators.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operators are fundamental for programming.</a:t>
            </a:r>
          </a:p>
          <a:p>
            <a:r>
              <a:t>They help perform calculations, comparisons, and logical decisions.</a:t>
            </a:r>
          </a:p>
          <a:p>
            <a:r>
              <a:t>Understanding operators improves problem-solving skills in software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90</TotalTime>
  <Words>342</Words>
  <Application>Microsoft Office PowerPoint</Application>
  <PresentationFormat>On-screen Show (4:3)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Python Operators and Their Applications</vt:lpstr>
      <vt:lpstr>Introduction to Python Operators</vt:lpstr>
      <vt:lpstr>Types of Python Operators</vt:lpstr>
      <vt:lpstr>Arithmetic Operators</vt:lpstr>
      <vt:lpstr>Comparison Operators</vt:lpstr>
      <vt:lpstr>Logical Operators</vt:lpstr>
      <vt:lpstr>Problem Statement</vt:lpstr>
      <vt:lpstr>Python Implementation</vt:lpstr>
      <vt:lpstr>Complex Problem Solving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Jayesh</dc:creator>
  <cp:keywords/>
  <dc:description>generated using python-pptx</dc:description>
  <cp:lastModifiedBy>jayesh.shimpi1901@outlook.com</cp:lastModifiedBy>
  <cp:revision>3</cp:revision>
  <dcterms:created xsi:type="dcterms:W3CDTF">2013-01-27T09:14:16Z</dcterms:created>
  <dcterms:modified xsi:type="dcterms:W3CDTF">2026-05-06T06:31:38Z</dcterms:modified>
  <cp:category/>
</cp:coreProperties>
</file>